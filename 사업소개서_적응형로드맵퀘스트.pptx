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PROBLEM · 문제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00232" y="6355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 일 목록은 넘쳐나는데,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정작 “오늘 뭘 해야 할지”는 매번 막막하다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투두리스트 앱은 이미 수백 개다. 그런데 그 모든 앱이 전제로 깔고 가는 게 하나 있다 —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“할 일은 당신이 알아서 정하세요.” 문제는 바로 거기서 시작된다.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3401568" cy="2148840"/>
          </a:xfrm>
          <a:prstGeom prst="roundRect">
            <a:avLst>
              <a:gd name="adj" fmla="val 5106"/>
            </a:avLst>
          </a:prstGeom>
          <a:solidFill>
            <a:srgbClr val="1D2330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3685032"/>
            <a:ext cx="566928" cy="566928"/>
          </a:xfrm>
          <a:prstGeom prst="ellipse">
            <a:avLst/>
          </a:prstGeom>
          <a:solidFill>
            <a:srgbClr val="242B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3813048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4389120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뭘 해야 할지 모른다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04672" y="4800600"/>
            <a:ext cx="2889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 목표는 있지만, 그걸 “오늘의 한 걸음”으로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쪼개는 방법을 몰라 계획 자체를 못 세운다.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06240" y="3429000"/>
            <a:ext cx="3401568" cy="2148840"/>
          </a:xfrm>
          <a:prstGeom prst="roundRect">
            <a:avLst>
              <a:gd name="adj" fmla="val 5106"/>
            </a:avLst>
          </a:prstGeom>
          <a:solidFill>
            <a:srgbClr val="1D2330"/>
          </a:solidFill>
          <a:ln/>
        </p:spPr>
      </p:sp>
      <p:sp>
        <p:nvSpPr>
          <p:cNvPr id="12" name="Shape 9"/>
          <p:cNvSpPr/>
          <p:nvPr/>
        </p:nvSpPr>
        <p:spPr>
          <a:xfrm>
            <a:off x="4462272" y="3685032"/>
            <a:ext cx="566928" cy="566928"/>
          </a:xfrm>
          <a:prstGeom prst="ellipse">
            <a:avLst/>
          </a:prstGeom>
          <a:solidFill>
            <a:srgbClr val="242B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3813048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62272" y="4389120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속도를 무시한 계획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462272" y="4800600"/>
            <a:ext cx="2889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의지만으로 무리한 하루 분량을 적어 넣고,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결국 하루 이틀 만에 못 지켜 계획이 무너진다.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863840" y="3429000"/>
            <a:ext cx="3401568" cy="2148840"/>
          </a:xfrm>
          <a:prstGeom prst="roundRect">
            <a:avLst>
              <a:gd name="adj" fmla="val 5106"/>
            </a:avLst>
          </a:prstGeom>
          <a:solidFill>
            <a:srgbClr val="1D2330"/>
          </a:solidFill>
          <a:ln/>
        </p:spPr>
      </p:sp>
      <p:sp>
        <p:nvSpPr>
          <p:cNvPr id="17" name="Shape 13"/>
          <p:cNvSpPr/>
          <p:nvPr/>
        </p:nvSpPr>
        <p:spPr>
          <a:xfrm>
            <a:off x="8119872" y="3685032"/>
            <a:ext cx="566928" cy="566928"/>
          </a:xfrm>
          <a:prstGeom prst="ellipse">
            <a:avLst/>
          </a:prstGeom>
          <a:solidFill>
            <a:srgbClr val="242B3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813048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19872" y="4389120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실패가 쌓이면 포기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8119872" y="4800600"/>
            <a:ext cx="2889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작심삼일이 반복되면 자책이 쌓이고,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결국 “나는 계획 세워도 안 되는 사람”이라 결론 낸다.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580644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242B3A"/>
          </a:solidFill>
          <a:ln/>
        </p:spPr>
      </p:sp>
      <p:sp>
        <p:nvSpPr>
          <p:cNvPr id="22" name="Text 17"/>
          <p:cNvSpPr/>
          <p:nvPr/>
        </p:nvSpPr>
        <p:spPr>
          <a:xfrm>
            <a:off x="822960" y="580644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컴활 2급 필기를 준비하던 한 학생 — 계획표는 며칠 만에 완성했지만, 이틀도 못 가 흐지부지됐다. </a:t>
            </a:r>
            <a:pPr indent="0" marL="0">
              <a:buNone/>
            </a:pPr>
            <a:r>
              <a:rPr lang="en-US" sz="1300" b="1" i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98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NEED · 니즈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00232" y="6355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6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건 “더 좋은 계획표”가 아니라</a:t>
            </a:r>
            <a:endParaRPr lang="en-US" sz="2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“나에게 맞게 스스로 조절되는 계획”이다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7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사람마다 소화할 수 있는 하루의 양은 다르다. 그런데 대부분의 계획 도구는 그걸 반영하지 않는다.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7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실패한 계획은 다음 날도 똑같이 남아있고, 결국 “계획 자체를 안 세우는 것”이 최선처럼 느껴진다.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5257800" cy="3063240"/>
          </a:xfrm>
          <a:prstGeom prst="roundRect">
            <a:avLst>
              <a:gd name="adj" fmla="val 2985"/>
            </a:avLst>
          </a:prstGeom>
          <a:solidFill>
            <a:srgbClr val="F3F4F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3832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7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투두리스트 / 목표관리 앱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1248" y="3886200"/>
            <a:ext cx="256032" cy="256032"/>
          </a:xfrm>
          <a:prstGeom prst="ellipse">
            <a:avLst/>
          </a:prstGeom>
          <a:solidFill>
            <a:srgbClr val="E5636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3950208"/>
            <a:ext cx="128016" cy="1280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383133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해야 할 일을 사용자가 직접 나열해야 함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41248" y="4453128"/>
            <a:ext cx="256032" cy="256032"/>
          </a:xfrm>
          <a:prstGeom prst="ellipse">
            <a:avLst/>
          </a:prstGeom>
          <a:solidFill>
            <a:srgbClr val="E5636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4517136"/>
            <a:ext cx="128016" cy="1280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4398264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한번 짠 로드맵은 그대로 고정, 못 지켜도 그대로 남음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41248" y="5020056"/>
            <a:ext cx="256032" cy="256032"/>
          </a:xfrm>
          <a:prstGeom prst="ellipse">
            <a:avLst/>
          </a:prstGeom>
          <a:solidFill>
            <a:srgbClr val="E5636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084064"/>
            <a:ext cx="128016" cy="1280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49651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이유나 진행 상황을 기록할 곳이 없음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41248" y="5586984"/>
            <a:ext cx="256032" cy="256032"/>
          </a:xfrm>
          <a:prstGeom prst="ellipse">
            <a:avLst/>
          </a:prstGeom>
          <a:solidFill>
            <a:srgbClr val="E5636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5650992"/>
            <a:ext cx="128016" cy="1280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55321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실패가 반복되면 결국 앱을 지운다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126480" y="3108960"/>
            <a:ext cx="5257800" cy="3063240"/>
          </a:xfrm>
          <a:prstGeom prst="roundRect">
            <a:avLst>
              <a:gd name="adj" fmla="val 2985"/>
            </a:avLst>
          </a:prstGeom>
          <a:solidFill>
            <a:srgbClr val="141821"/>
          </a:solidFill>
          <a:ln/>
        </p:spPr>
      </p:sp>
      <p:sp>
        <p:nvSpPr>
          <p:cNvPr id="21" name="Text 15"/>
          <p:cNvSpPr/>
          <p:nvPr/>
        </p:nvSpPr>
        <p:spPr>
          <a:xfrm>
            <a:off x="6446520" y="33832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앱이 채우는 것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6419088" y="3886200"/>
            <a:ext cx="256032" cy="256032"/>
          </a:xfrm>
          <a:prstGeom prst="ellipse">
            <a:avLst/>
          </a:prstGeom>
          <a:solidFill>
            <a:srgbClr val="4FD1C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3950208"/>
            <a:ext cx="128016" cy="12801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12280" y="383133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+ 기간만 정하면 AI가 오늘 할 일을 제시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419088" y="4453128"/>
            <a:ext cx="256032" cy="256032"/>
          </a:xfrm>
          <a:prstGeom prst="ellipse">
            <a:avLst/>
          </a:prstGeom>
          <a:solidFill>
            <a:srgbClr val="4FD1C5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096" y="4517136"/>
            <a:ext cx="128016" cy="12801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12280" y="4398264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 / 진행률 / 실패 + 메모까지 매일 기록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419088" y="5020056"/>
            <a:ext cx="256032" cy="256032"/>
          </a:xfrm>
          <a:prstGeom prst="ellipse">
            <a:avLst/>
          </a:prstGeom>
          <a:solidFill>
            <a:srgbClr val="4FD1C5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3096" y="5084064"/>
            <a:ext cx="128016" cy="12801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812280" y="49651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기록을 AI가 읽고 다음 날 난이도를 재조정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6419088" y="5586984"/>
            <a:ext cx="256032" cy="256032"/>
          </a:xfrm>
          <a:prstGeom prst="ellipse">
            <a:avLst/>
          </a:prstGeom>
          <a:solidFill>
            <a:srgbClr val="4FD1C5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3096" y="5650992"/>
            <a:ext cx="128016" cy="128016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812280" y="55321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속도대로 완주 → 작아도 꾸준한 성취감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98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SERVICE · 서비스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00232" y="6355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6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적응형 로드맵 퀘스트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9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하루 한 걸음씩, AI 코치가 내 속도에 맞춰 함께 걷는다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핵심은 “한 번에 전체 계획을 안 짜는 것”이다. 하루치 퀘스트 하나만 주고, 그 결과를 본 뒤에야 다음 날의 퀘스트를 만든다.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88036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F3F4F7"/>
          </a:solidFill>
          <a:ln/>
        </p:spPr>
      </p:sp>
      <p:sp>
        <p:nvSpPr>
          <p:cNvPr id="8" name="Shape 6"/>
          <p:cNvSpPr/>
          <p:nvPr/>
        </p:nvSpPr>
        <p:spPr>
          <a:xfrm>
            <a:off x="1650492" y="3081528"/>
            <a:ext cx="585216" cy="585216"/>
          </a:xfrm>
          <a:prstGeom prst="ellipse">
            <a:avLst/>
          </a:prstGeom>
          <a:solidFill>
            <a:srgbClr val="E3B34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7652" y="3218688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749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설정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40507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7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+ 기간(로드맵)</a:t>
            </a:r>
            <a:endParaRPr lang="en-US" sz="100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7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또는 반복 루틴 설정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63824" y="3557016"/>
            <a:ext cx="393192" cy="201168"/>
          </a:xfrm>
          <a:prstGeom prst="rightArrow">
            <a:avLst/>
          </a:prstGeom>
          <a:solidFill>
            <a:srgbClr val="DEE0E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288036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F3F4F7"/>
          </a:solidFill>
          <a:ln/>
        </p:spPr>
      </p:sp>
      <p:sp>
        <p:nvSpPr>
          <p:cNvPr id="14" name="Shape 11"/>
          <p:cNvSpPr/>
          <p:nvPr/>
        </p:nvSpPr>
        <p:spPr>
          <a:xfrm>
            <a:off x="4485132" y="3081528"/>
            <a:ext cx="585216" cy="585216"/>
          </a:xfrm>
          <a:prstGeom prst="ellipse">
            <a:avLst/>
          </a:prstGeom>
          <a:solidFill>
            <a:srgbClr val="E3B34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292" y="3218688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11880" y="3749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703320" y="40507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7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하루치</a:t>
            </a:r>
            <a:endParaRPr lang="en-US" sz="100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7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퀘스트 딱 1개만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998464" y="3557016"/>
            <a:ext cx="393192" cy="201168"/>
          </a:xfrm>
          <a:prstGeom prst="rightArrow">
            <a:avLst/>
          </a:prstGeom>
          <a:solidFill>
            <a:srgbClr val="DEE0E6"/>
          </a:solidFill>
          <a:ln/>
        </p:spPr>
      </p:sp>
      <p:sp>
        <p:nvSpPr>
          <p:cNvPr id="19" name="Shape 15"/>
          <p:cNvSpPr/>
          <p:nvPr/>
        </p:nvSpPr>
        <p:spPr>
          <a:xfrm>
            <a:off x="6446520" y="288036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F3F4F7"/>
          </a:solidFill>
          <a:ln/>
        </p:spPr>
      </p:sp>
      <p:sp>
        <p:nvSpPr>
          <p:cNvPr id="20" name="Shape 16"/>
          <p:cNvSpPr/>
          <p:nvPr/>
        </p:nvSpPr>
        <p:spPr>
          <a:xfrm>
            <a:off x="7319772" y="3081528"/>
            <a:ext cx="585216" cy="585216"/>
          </a:xfrm>
          <a:prstGeom prst="ellipse">
            <a:avLst/>
          </a:prstGeom>
          <a:solidFill>
            <a:srgbClr val="E3B34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932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46520" y="3749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537960" y="40507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7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 / 진행률 / 실패</a:t>
            </a:r>
            <a:endParaRPr lang="en-US" sz="100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7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이유 메모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8833104" y="3557016"/>
            <a:ext cx="393192" cy="201168"/>
          </a:xfrm>
          <a:prstGeom prst="rightArrow">
            <a:avLst/>
          </a:prstGeom>
          <a:solidFill>
            <a:srgbClr val="DEE0E6"/>
          </a:solidFill>
          <a:ln/>
        </p:spPr>
      </p:sp>
      <p:sp>
        <p:nvSpPr>
          <p:cNvPr id="25" name="Shape 20"/>
          <p:cNvSpPr/>
          <p:nvPr/>
        </p:nvSpPr>
        <p:spPr>
          <a:xfrm>
            <a:off x="9281160" y="288036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F3F4F7"/>
          </a:solidFill>
          <a:ln/>
        </p:spPr>
      </p:sp>
      <p:sp>
        <p:nvSpPr>
          <p:cNvPr id="26" name="Shape 21"/>
          <p:cNvSpPr/>
          <p:nvPr/>
        </p:nvSpPr>
        <p:spPr>
          <a:xfrm>
            <a:off x="10154412" y="3081528"/>
            <a:ext cx="585216" cy="585216"/>
          </a:xfrm>
          <a:prstGeom prst="ellipse">
            <a:avLst/>
          </a:prstGeom>
          <a:solidFill>
            <a:srgbClr val="E3B341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1572" y="3218688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81160" y="3749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재조정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372600" y="40507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7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기록을 읽고</a:t>
            </a:r>
            <a:endParaRPr lang="en-US" sz="100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7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 자동 조절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777240" y="4754880"/>
            <a:ext cx="10835640" cy="594360"/>
          </a:xfrm>
          <a:prstGeom prst="roundRect">
            <a:avLst>
              <a:gd name="adj" fmla="val 49231"/>
            </a:avLst>
          </a:prstGeom>
          <a:solidFill>
            <a:srgbClr val="141821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892040"/>
            <a:ext cx="310896" cy="31089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508760" y="4754880"/>
            <a:ext cx="9921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이 4단계가 반복되며, 사용자의 진짜 속도에 로드맵이 스스로 맞춰진다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777240" y="5623560"/>
            <a:ext cx="10835640" cy="685800"/>
          </a:xfrm>
          <a:prstGeom prst="roundRect">
            <a:avLst>
              <a:gd name="adj" fmla="val 13333"/>
            </a:avLst>
          </a:prstGeom>
          <a:solidFill>
            <a:srgbClr val="ECEDF2"/>
          </a:solidFill>
          <a:ln/>
        </p:spPr>
      </p:sp>
      <p:sp>
        <p:nvSpPr>
          <p:cNvPr id="34" name="Text 27"/>
          <p:cNvSpPr/>
          <p:nvPr/>
        </p:nvSpPr>
        <p:spPr>
          <a:xfrm>
            <a:off x="1005840" y="5623560"/>
            <a:ext cx="10378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루틴 체크리스트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7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기간이 없는 매일 반복 습관은 로드맵과 분리해 오늘 화면 상단에 별도로 관리 — 목표 로드맵과 습관을 한 화면에서 헷갈리지 않게.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98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PROTOTYPE · 프로토타입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00232" y="6355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6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아이디어가 아니라, 이미 작동하는 서비스입니다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AI 호출, 데이터 저장, 캘린더 통계까지 전부 동작하는 상태로 배포되어 있으며, 아이폰 홈 화면에 앱처럼 설치해 매일 쓸 수 있습니다.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7824" y="2066544"/>
            <a:ext cx="2496312" cy="4142232"/>
          </a:xfrm>
          <a:prstGeom prst="roundRect">
            <a:avLst>
              <a:gd name="adj" fmla="val 8059"/>
            </a:avLst>
          </a:prstGeom>
          <a:solidFill>
            <a:srgbClr val="0B0E14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148840"/>
            <a:ext cx="2331720" cy="3977640"/>
          </a:xfrm>
          <a:prstGeom prst="roundRect">
            <a:avLst>
              <a:gd name="adj" fmla="val 6275"/>
            </a:avLst>
          </a:prstGeom>
          <a:solidFill>
            <a:srgbClr val="141821"/>
          </a:solidFill>
          <a:ln/>
        </p:spPr>
      </p:sp>
      <p:sp>
        <p:nvSpPr>
          <p:cNvPr id="8" name="Text 6"/>
          <p:cNvSpPr/>
          <p:nvPr/>
        </p:nvSpPr>
        <p:spPr>
          <a:xfrm>
            <a:off x="1124712" y="23134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오늘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712" y="2478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할 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40280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8월 21일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" y="2926080"/>
            <a:ext cx="2057400" cy="502920"/>
          </a:xfrm>
          <a:prstGeom prst="roundRect">
            <a:avLst>
              <a:gd name="adj" fmla="val 12727"/>
            </a:avLst>
          </a:prstGeom>
          <a:solidFill>
            <a:srgbClr val="1D2330"/>
          </a:solidFill>
          <a:ln/>
        </p:spPr>
      </p:sp>
      <p:sp>
        <p:nvSpPr>
          <p:cNvPr id="12" name="Shape 10"/>
          <p:cNvSpPr/>
          <p:nvPr/>
        </p:nvSpPr>
        <p:spPr>
          <a:xfrm>
            <a:off x="1216152" y="3063240"/>
            <a:ext cx="219456" cy="219456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3" name="Text 11"/>
          <p:cNvSpPr/>
          <p:nvPr/>
        </p:nvSpPr>
        <p:spPr>
          <a:xfrm>
            <a:off x="1527048" y="3017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기출 30문항 풀기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97280" y="3547872"/>
            <a:ext cx="2057400" cy="502920"/>
          </a:xfrm>
          <a:prstGeom prst="roundRect">
            <a:avLst>
              <a:gd name="adj" fmla="val 12727"/>
            </a:avLst>
          </a:prstGeom>
          <a:solidFill>
            <a:srgbClr val="1D2330"/>
          </a:solidFill>
          <a:ln/>
        </p:spPr>
      </p:sp>
      <p:sp>
        <p:nvSpPr>
          <p:cNvPr id="15" name="Shape 13"/>
          <p:cNvSpPr/>
          <p:nvPr/>
        </p:nvSpPr>
        <p:spPr>
          <a:xfrm>
            <a:off x="1216152" y="3685032"/>
            <a:ext cx="219456" cy="219456"/>
          </a:xfrm>
          <a:prstGeom prst="ellipse">
            <a:avLst/>
          </a:prstGeom>
          <a:solidFill>
            <a:srgbClr val="7FA8E0"/>
          </a:solidFill>
          <a:ln/>
        </p:spPr>
      </p:sp>
      <p:sp>
        <p:nvSpPr>
          <p:cNvPr id="16" name="Text 14"/>
          <p:cNvSpPr/>
          <p:nvPr/>
        </p:nvSpPr>
        <p:spPr>
          <a:xfrm>
            <a:off x="1527048" y="36393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단축키 5개 암기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97280" y="4169664"/>
            <a:ext cx="2057400" cy="502920"/>
          </a:xfrm>
          <a:prstGeom prst="roundRect">
            <a:avLst>
              <a:gd name="adj" fmla="val 12727"/>
            </a:avLst>
          </a:prstGeom>
          <a:solidFill>
            <a:srgbClr val="1D2330"/>
          </a:solidFill>
          <a:ln/>
        </p:spPr>
      </p:sp>
      <p:sp>
        <p:nvSpPr>
          <p:cNvPr id="18" name="Shape 16"/>
          <p:cNvSpPr/>
          <p:nvPr/>
        </p:nvSpPr>
        <p:spPr>
          <a:xfrm>
            <a:off x="1216152" y="4306824"/>
            <a:ext cx="219456" cy="219456"/>
          </a:xfrm>
          <a:prstGeom prst="ellipse">
            <a:avLst/>
          </a:prstGeom>
          <a:solidFill>
            <a:srgbClr val="2C3242"/>
          </a:solidFill>
          <a:ln/>
        </p:spPr>
      </p:sp>
      <p:sp>
        <p:nvSpPr>
          <p:cNvPr id="19" name="Text 17"/>
          <p:cNvSpPr/>
          <p:nvPr/>
        </p:nvSpPr>
        <p:spPr>
          <a:xfrm>
            <a:off x="1527048" y="426110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함수 복습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60120" y="629107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76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PREVIEW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12464" y="2066544"/>
            <a:ext cx="2496312" cy="4142232"/>
          </a:xfrm>
          <a:prstGeom prst="roundRect">
            <a:avLst>
              <a:gd name="adj" fmla="val 8059"/>
            </a:avLst>
          </a:prstGeom>
          <a:solidFill>
            <a:srgbClr val="0B0E14"/>
          </a:solidFill>
          <a:ln/>
        </p:spPr>
      </p:sp>
      <p:sp>
        <p:nvSpPr>
          <p:cNvPr id="22" name="Shape 20"/>
          <p:cNvSpPr/>
          <p:nvPr/>
        </p:nvSpPr>
        <p:spPr>
          <a:xfrm>
            <a:off x="3794760" y="2148840"/>
            <a:ext cx="2331720" cy="3977640"/>
          </a:xfrm>
          <a:prstGeom prst="roundRect">
            <a:avLst>
              <a:gd name="adj" fmla="val 6275"/>
            </a:avLst>
          </a:prstGeom>
          <a:solidFill>
            <a:srgbClr val="141821"/>
          </a:solidFill>
          <a:ln/>
        </p:spPr>
      </p:sp>
      <p:sp>
        <p:nvSpPr>
          <p:cNvPr id="23" name="Text 21"/>
          <p:cNvSpPr/>
          <p:nvPr/>
        </p:nvSpPr>
        <p:spPr>
          <a:xfrm>
            <a:off x="3959352" y="23134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기록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959352" y="2478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캘린더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959352" y="2926080"/>
            <a:ext cx="231213" cy="231213"/>
          </a:xfrm>
          <a:prstGeom prst="roundRect">
            <a:avLst>
              <a:gd name="adj" fmla="val 15819"/>
            </a:avLst>
          </a:prstGeom>
          <a:solidFill>
            <a:srgbClr val="1D2330"/>
          </a:solidFill>
          <a:ln/>
        </p:spPr>
      </p:sp>
      <p:sp>
        <p:nvSpPr>
          <p:cNvPr id="26" name="Shape 24"/>
          <p:cNvSpPr/>
          <p:nvPr/>
        </p:nvSpPr>
        <p:spPr>
          <a:xfrm>
            <a:off x="4245429" y="2926080"/>
            <a:ext cx="231213" cy="231213"/>
          </a:xfrm>
          <a:prstGeom prst="roundRect">
            <a:avLst>
              <a:gd name="adj" fmla="val 15819"/>
            </a:avLst>
          </a:prstGeom>
          <a:solidFill>
            <a:srgbClr val="242B3A"/>
          </a:solidFill>
          <a:ln/>
        </p:spPr>
      </p:sp>
      <p:sp>
        <p:nvSpPr>
          <p:cNvPr id="27" name="Text 25"/>
          <p:cNvSpPr/>
          <p:nvPr/>
        </p:nvSpPr>
        <p:spPr>
          <a:xfrm>
            <a:off x="4227141" y="2926080"/>
            <a:ext cx="267789" cy="231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80%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4531505" y="2926080"/>
            <a:ext cx="231213" cy="231213"/>
          </a:xfrm>
          <a:prstGeom prst="roundRect">
            <a:avLst>
              <a:gd name="adj" fmla="val 15819"/>
            </a:avLst>
          </a:prstGeom>
          <a:solidFill>
            <a:srgbClr val="242B3A"/>
          </a:solidFill>
          <a:ln/>
        </p:spPr>
      </p:sp>
      <p:sp>
        <p:nvSpPr>
          <p:cNvPr id="29" name="Text 27"/>
          <p:cNvSpPr/>
          <p:nvPr/>
        </p:nvSpPr>
        <p:spPr>
          <a:xfrm>
            <a:off x="4513217" y="2926080"/>
            <a:ext cx="267789" cy="231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A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45%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4817582" y="2926080"/>
            <a:ext cx="231213" cy="231213"/>
          </a:xfrm>
          <a:prstGeom prst="roundRect">
            <a:avLst>
              <a:gd name="adj" fmla="val 15819"/>
            </a:avLst>
          </a:prstGeom>
          <a:solidFill>
            <a:srgbClr val="242B3A"/>
          </a:solidFill>
          <a:ln/>
        </p:spPr>
      </p:sp>
      <p:sp>
        <p:nvSpPr>
          <p:cNvPr id="31" name="Text 29"/>
          <p:cNvSpPr/>
          <p:nvPr/>
        </p:nvSpPr>
        <p:spPr>
          <a:xfrm>
            <a:off x="4799294" y="2926080"/>
            <a:ext cx="267789" cy="231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90%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5103658" y="2926080"/>
            <a:ext cx="231213" cy="231213"/>
          </a:xfrm>
          <a:prstGeom prst="roundRect">
            <a:avLst>
              <a:gd name="adj" fmla="val 15819"/>
            </a:avLst>
          </a:prstGeom>
          <a:solidFill>
            <a:srgbClr val="1D2330"/>
          </a:solidFill>
          <a:ln/>
        </p:spPr>
      </p:sp>
      <p:sp>
        <p:nvSpPr>
          <p:cNvPr id="33" name="Shape 31"/>
          <p:cNvSpPr/>
          <p:nvPr/>
        </p:nvSpPr>
        <p:spPr>
          <a:xfrm>
            <a:off x="5389735" y="2926080"/>
            <a:ext cx="231213" cy="231213"/>
          </a:xfrm>
          <a:prstGeom prst="roundRect">
            <a:avLst>
              <a:gd name="adj" fmla="val 15819"/>
            </a:avLst>
          </a:prstGeom>
          <a:solidFill>
            <a:srgbClr val="242B3A"/>
          </a:solidFill>
          <a:ln/>
        </p:spPr>
      </p:sp>
      <p:sp>
        <p:nvSpPr>
          <p:cNvPr id="34" name="Text 32"/>
          <p:cNvSpPr/>
          <p:nvPr/>
        </p:nvSpPr>
        <p:spPr>
          <a:xfrm>
            <a:off x="5371447" y="2926080"/>
            <a:ext cx="267789" cy="231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56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5675811" y="2926080"/>
            <a:ext cx="231213" cy="231213"/>
          </a:xfrm>
          <a:prstGeom prst="roundRect">
            <a:avLst>
              <a:gd name="adj" fmla="val 15819"/>
            </a:avLst>
          </a:prstGeom>
          <a:solidFill>
            <a:srgbClr val="242B3A"/>
          </a:solidFill>
          <a:ln/>
        </p:spPr>
      </p:sp>
      <p:sp>
        <p:nvSpPr>
          <p:cNvPr id="36" name="Text 34"/>
          <p:cNvSpPr/>
          <p:nvPr/>
        </p:nvSpPr>
        <p:spPr>
          <a:xfrm>
            <a:off x="5657523" y="2926080"/>
            <a:ext cx="267789" cy="231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A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70%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3959352" y="3267021"/>
            <a:ext cx="231213" cy="231213"/>
          </a:xfrm>
          <a:prstGeom prst="roundRect">
            <a:avLst>
              <a:gd name="adj" fmla="val 15819"/>
            </a:avLst>
          </a:prstGeom>
          <a:solidFill>
            <a:srgbClr val="242B3A"/>
          </a:solidFill>
          <a:ln/>
        </p:spPr>
      </p:sp>
      <p:sp>
        <p:nvSpPr>
          <p:cNvPr id="38" name="Text 36"/>
          <p:cNvSpPr/>
          <p:nvPr/>
        </p:nvSpPr>
        <p:spPr>
          <a:xfrm>
            <a:off x="3941064" y="3267021"/>
            <a:ext cx="267789" cy="231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A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60%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4245429" y="3267021"/>
            <a:ext cx="231213" cy="231213"/>
          </a:xfrm>
          <a:prstGeom prst="roundRect">
            <a:avLst>
              <a:gd name="adj" fmla="val 15819"/>
            </a:avLst>
          </a:prstGeom>
          <a:solidFill>
            <a:srgbClr val="1D2330"/>
          </a:solidFill>
          <a:ln/>
        </p:spPr>
      </p:sp>
      <p:sp>
        <p:nvSpPr>
          <p:cNvPr id="40" name="Shape 38"/>
          <p:cNvSpPr/>
          <p:nvPr/>
        </p:nvSpPr>
        <p:spPr>
          <a:xfrm>
            <a:off x="4531505" y="3267021"/>
            <a:ext cx="231213" cy="231213"/>
          </a:xfrm>
          <a:prstGeom prst="roundRect">
            <a:avLst>
              <a:gd name="adj" fmla="val 15819"/>
            </a:avLst>
          </a:prstGeom>
          <a:solidFill>
            <a:srgbClr val="242B3A"/>
          </a:solidFill>
          <a:ln/>
        </p:spPr>
      </p:sp>
      <p:sp>
        <p:nvSpPr>
          <p:cNvPr id="41" name="Text 39"/>
          <p:cNvSpPr/>
          <p:nvPr/>
        </p:nvSpPr>
        <p:spPr>
          <a:xfrm>
            <a:off x="4513217" y="3267021"/>
            <a:ext cx="267789" cy="231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85%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4817582" y="3267021"/>
            <a:ext cx="231213" cy="231213"/>
          </a:xfrm>
          <a:prstGeom prst="roundRect">
            <a:avLst>
              <a:gd name="adj" fmla="val 15819"/>
            </a:avLst>
          </a:prstGeom>
          <a:solidFill>
            <a:srgbClr val="242B3A"/>
          </a:solidFill>
          <a:ln/>
        </p:spPr>
      </p:sp>
      <p:sp>
        <p:nvSpPr>
          <p:cNvPr id="43" name="Text 41"/>
          <p:cNvSpPr/>
          <p:nvPr/>
        </p:nvSpPr>
        <p:spPr>
          <a:xfrm>
            <a:off x="4799294" y="3267021"/>
            <a:ext cx="267789" cy="231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95%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5103658" y="3267021"/>
            <a:ext cx="231213" cy="231213"/>
          </a:xfrm>
          <a:prstGeom prst="roundRect">
            <a:avLst>
              <a:gd name="adj" fmla="val 15819"/>
            </a:avLst>
          </a:prstGeom>
          <a:solidFill>
            <a:srgbClr val="242B3A"/>
          </a:solidFill>
          <a:ln/>
        </p:spPr>
      </p:sp>
      <p:sp>
        <p:nvSpPr>
          <p:cNvPr id="45" name="Text 43"/>
          <p:cNvSpPr/>
          <p:nvPr/>
        </p:nvSpPr>
        <p:spPr>
          <a:xfrm>
            <a:off x="5085370" y="3267021"/>
            <a:ext cx="267789" cy="231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56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30%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5389735" y="3267021"/>
            <a:ext cx="231213" cy="231213"/>
          </a:xfrm>
          <a:prstGeom prst="roundRect">
            <a:avLst>
              <a:gd name="adj" fmla="val 15819"/>
            </a:avLst>
          </a:prstGeom>
          <a:solidFill>
            <a:srgbClr val="242B3A"/>
          </a:solidFill>
          <a:ln/>
        </p:spPr>
      </p:sp>
      <p:sp>
        <p:nvSpPr>
          <p:cNvPr id="47" name="Text 45"/>
          <p:cNvSpPr/>
          <p:nvPr/>
        </p:nvSpPr>
        <p:spPr>
          <a:xfrm>
            <a:off x="5371447" y="3267021"/>
            <a:ext cx="267789" cy="231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A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75%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5675811" y="3267021"/>
            <a:ext cx="231213" cy="231213"/>
          </a:xfrm>
          <a:prstGeom prst="roundRect">
            <a:avLst>
              <a:gd name="adj" fmla="val 15819"/>
            </a:avLst>
          </a:prstGeom>
          <a:solidFill>
            <a:srgbClr val="242B3A"/>
          </a:solidFill>
          <a:ln/>
        </p:spPr>
      </p:sp>
      <p:sp>
        <p:nvSpPr>
          <p:cNvPr id="49" name="Text 47"/>
          <p:cNvSpPr/>
          <p:nvPr/>
        </p:nvSpPr>
        <p:spPr>
          <a:xfrm>
            <a:off x="5657523" y="3267021"/>
            <a:ext cx="267789" cy="231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88%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3959352" y="3772553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DAY별 목표 수행률 한눈에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794760" y="629107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76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PREVIEW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812280" y="2148840"/>
            <a:ext cx="4828032" cy="1417320"/>
          </a:xfrm>
          <a:prstGeom prst="roundRect">
            <a:avLst>
              <a:gd name="adj" fmla="val 6452"/>
            </a:avLst>
          </a:prstGeom>
          <a:solidFill>
            <a:srgbClr val="F3F4F7"/>
          </a:solidFill>
          <a:ln/>
        </p:spPr>
      </p:sp>
      <p:sp>
        <p:nvSpPr>
          <p:cNvPr id="53" name="Text 51"/>
          <p:cNvSpPr/>
          <p:nvPr/>
        </p:nvSpPr>
        <p:spPr>
          <a:xfrm>
            <a:off x="7086600" y="2350008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배포 주소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086600" y="2679192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8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to-do-list-two-ruby-83.vercel.app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086600" y="3017520"/>
            <a:ext cx="4279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76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(프로토타입 · Netlify) coruscating-pasca-778056.netlify.app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812280" y="3749040"/>
            <a:ext cx="4828032" cy="2377440"/>
          </a:xfrm>
          <a:prstGeom prst="roundRect">
            <a:avLst>
              <a:gd name="adj" fmla="val 3846"/>
            </a:avLst>
          </a:prstGeom>
          <a:solidFill>
            <a:srgbClr val="141821"/>
          </a:solidFill>
          <a:ln/>
        </p:spPr>
      </p:sp>
      <p:sp>
        <p:nvSpPr>
          <p:cNvPr id="57" name="Text 55"/>
          <p:cNvSpPr/>
          <p:nvPr/>
        </p:nvSpPr>
        <p:spPr>
          <a:xfrm>
            <a:off x="7086600" y="3950208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구성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7086600" y="4297680"/>
            <a:ext cx="365760" cy="365760"/>
          </a:xfrm>
          <a:prstGeom prst="ellipse">
            <a:avLst/>
          </a:prstGeom>
          <a:solidFill>
            <a:srgbClr val="242B3A"/>
          </a:solidFill>
          <a:ln/>
        </p:spPr>
      </p:sp>
      <p:pic>
        <p:nvPicPr>
          <p:cNvPr id="5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4389120"/>
            <a:ext cx="182880" cy="182880"/>
          </a:xfrm>
          <a:prstGeom prst="rect">
            <a:avLst/>
          </a:prstGeom>
        </p:spPr>
      </p:pic>
      <p:sp>
        <p:nvSpPr>
          <p:cNvPr id="60" name="Text 57"/>
          <p:cNvSpPr/>
          <p:nvPr/>
        </p:nvSpPr>
        <p:spPr>
          <a:xfrm>
            <a:off x="7589520" y="4270248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API</a:t>
            </a:r>
            <a:endParaRPr lang="en-US" sz="1150" dirty="0"/>
          </a:p>
        </p:txBody>
      </p:sp>
      <p:sp>
        <p:nvSpPr>
          <p:cNvPr id="61" name="Text 58"/>
          <p:cNvSpPr/>
          <p:nvPr/>
        </p:nvSpPr>
        <p:spPr>
          <a:xfrm>
            <a:off x="7589520" y="4517136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1회, 무료 티어로 하루치 퀘스트 실시간 생성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7086600" y="4956048"/>
            <a:ext cx="365760" cy="365760"/>
          </a:xfrm>
          <a:prstGeom prst="ellipse">
            <a:avLst/>
          </a:prstGeom>
          <a:solidFill>
            <a:srgbClr val="242B3A"/>
          </a:solidFill>
          <a:ln/>
        </p:spPr>
      </p:sp>
      <p:pic>
        <p:nvPicPr>
          <p:cNvPr id="6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5047488"/>
            <a:ext cx="182880" cy="182880"/>
          </a:xfrm>
          <a:prstGeom prst="rect">
            <a:avLst/>
          </a:prstGeom>
        </p:spPr>
      </p:pic>
      <p:sp>
        <p:nvSpPr>
          <p:cNvPr id="64" name="Text 60"/>
          <p:cNvSpPr/>
          <p:nvPr/>
        </p:nvSpPr>
        <p:spPr>
          <a:xfrm>
            <a:off x="7589520" y="4928616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서버리스</a:t>
            </a:r>
            <a:endParaRPr lang="en-US" sz="1150" dirty="0"/>
          </a:p>
        </p:txBody>
      </p:sp>
      <p:sp>
        <p:nvSpPr>
          <p:cNvPr id="65" name="Text 61"/>
          <p:cNvSpPr/>
          <p:nvPr/>
        </p:nvSpPr>
        <p:spPr>
          <a:xfrm>
            <a:off x="7589520" y="5175504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키를 서버에서만 사용, 클라이언트 비노출</a:t>
            </a:r>
            <a:endParaRPr lang="en-US" sz="950" dirty="0"/>
          </a:p>
        </p:txBody>
      </p:sp>
      <p:sp>
        <p:nvSpPr>
          <p:cNvPr id="66" name="Shape 62"/>
          <p:cNvSpPr/>
          <p:nvPr/>
        </p:nvSpPr>
        <p:spPr>
          <a:xfrm>
            <a:off x="7086600" y="5614416"/>
            <a:ext cx="365760" cy="365760"/>
          </a:xfrm>
          <a:prstGeom prst="ellipse">
            <a:avLst/>
          </a:prstGeom>
          <a:solidFill>
            <a:srgbClr val="242B3A"/>
          </a:solidFill>
          <a:ln/>
        </p:spPr>
      </p:sp>
      <p:pic>
        <p:nvPicPr>
          <p:cNvPr id="6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5705856"/>
            <a:ext cx="182880" cy="182880"/>
          </a:xfrm>
          <a:prstGeom prst="rect">
            <a:avLst/>
          </a:prstGeom>
        </p:spPr>
      </p:pic>
      <p:sp>
        <p:nvSpPr>
          <p:cNvPr id="68" name="Text 63"/>
          <p:cNvSpPr/>
          <p:nvPr/>
        </p:nvSpPr>
        <p:spPr>
          <a:xfrm>
            <a:off x="7589520" y="5586984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설치</a:t>
            </a:r>
            <a:endParaRPr lang="en-US" sz="1150" dirty="0"/>
          </a:p>
        </p:txBody>
      </p:sp>
      <p:sp>
        <p:nvSpPr>
          <p:cNvPr id="69" name="Text 64"/>
          <p:cNvSpPr/>
          <p:nvPr/>
        </p:nvSpPr>
        <p:spPr>
          <a:xfrm>
            <a:off x="7589520" y="5833872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아이폰 홈 화면에 추가해 네이티브 앱처럼 사용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BUSINESS · 사업/임팩트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00232" y="6355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4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속도대로, 그러나 포기하지 않고 끝까지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계획을 대신 조절해주면, “실패해서 포기”가 아니라 “내 속도로 완주”하는 경험이 남는다.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401568" cy="1417320"/>
          </a:xfrm>
          <a:prstGeom prst="roundRect">
            <a:avLst>
              <a:gd name="adj" fmla="val 6452"/>
            </a:avLst>
          </a:prstGeom>
          <a:solidFill>
            <a:srgbClr val="1D233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560320"/>
            <a:ext cx="457200" cy="457200"/>
          </a:xfrm>
          <a:prstGeom prst="ellipse">
            <a:avLst/>
          </a:prstGeom>
          <a:solidFill>
            <a:srgbClr val="E3B34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67004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560320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완주율 향상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310896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무리한 계획으로 인한 중도 포기를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 자동 조절로 줄인다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06240" y="2331720"/>
            <a:ext cx="3401568" cy="1417320"/>
          </a:xfrm>
          <a:prstGeom prst="roundRect">
            <a:avLst>
              <a:gd name="adj" fmla="val 6452"/>
            </a:avLst>
          </a:prstGeom>
          <a:solidFill>
            <a:srgbClr val="1D2330"/>
          </a:solidFill>
          <a:ln/>
        </p:spPr>
      </p:sp>
      <p:sp>
        <p:nvSpPr>
          <p:cNvPr id="12" name="Shape 9"/>
          <p:cNvSpPr/>
          <p:nvPr/>
        </p:nvSpPr>
        <p:spPr>
          <a:xfrm>
            <a:off x="4434840" y="2560320"/>
            <a:ext cx="457200" cy="457200"/>
          </a:xfrm>
          <a:prstGeom prst="ellipse">
            <a:avLst/>
          </a:prstGeom>
          <a:solidFill>
            <a:srgbClr val="E3B34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67004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29200" y="2560320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성취의 누적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434840" y="310896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“오늘의 한 걸음”을 완료하며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포기 대신 성취감이 쌓인다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863840" y="2331720"/>
            <a:ext cx="3401568" cy="1417320"/>
          </a:xfrm>
          <a:prstGeom prst="roundRect">
            <a:avLst>
              <a:gd name="adj" fmla="val 6452"/>
            </a:avLst>
          </a:prstGeom>
          <a:solidFill>
            <a:srgbClr val="1D2330"/>
          </a:solidFill>
          <a:ln/>
        </p:spPr>
      </p:sp>
      <p:sp>
        <p:nvSpPr>
          <p:cNvPr id="17" name="Shape 13"/>
          <p:cNvSpPr/>
          <p:nvPr/>
        </p:nvSpPr>
        <p:spPr>
          <a:xfrm>
            <a:off x="8092440" y="2560320"/>
            <a:ext cx="457200" cy="457200"/>
          </a:xfrm>
          <a:prstGeom prst="ellipse">
            <a:avLst/>
          </a:prstGeom>
          <a:solidFill>
            <a:srgbClr val="E3B34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267004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86800" y="2560320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누구나 시작 가능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092440" y="310896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 세우는 법을 몰라도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목표와 기간만 정하면 바로 시작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4864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방향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48640" y="4572000"/>
            <a:ext cx="384048" cy="384048"/>
          </a:xfrm>
          <a:prstGeom prst="ellipse">
            <a:avLst/>
          </a:prstGeom>
          <a:solidFill>
            <a:srgbClr val="242B3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4672584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51560" y="457200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프리미엄 코칭 리포트 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주간/월간 수행 패턴 분석, 심화 피드백을 유료 구독으로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5102352"/>
            <a:ext cx="384048" cy="384048"/>
          </a:xfrm>
          <a:prstGeom prst="ellipse">
            <a:avLst/>
          </a:prstGeom>
          <a:solidFill>
            <a:srgbClr val="242B3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5202936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5102352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제휴 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학원·스터디카페·학교 진로실과 연계한 단체 라이선스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548640" y="5632704"/>
            <a:ext cx="384048" cy="384048"/>
          </a:xfrm>
          <a:prstGeom prst="ellipse">
            <a:avLst/>
          </a:prstGeom>
          <a:solidFill>
            <a:srgbClr val="242B3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5733288"/>
            <a:ext cx="182880" cy="1828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51560" y="5632704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 챌린지 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목표를 가진 사람들과 진행률을 비교하는 소셜 기능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6400800" y="4114800"/>
            <a:ext cx="5212080" cy="2148840"/>
          </a:xfrm>
          <a:prstGeom prst="roundRect">
            <a:avLst>
              <a:gd name="adj" fmla="val 5106"/>
            </a:avLst>
          </a:prstGeom>
          <a:solidFill>
            <a:srgbClr val="1D2330"/>
          </a:solidFill>
          <a:ln/>
        </p:spPr>
      </p:sp>
      <p:sp>
        <p:nvSpPr>
          <p:cNvPr id="32" name="Text 24"/>
          <p:cNvSpPr/>
          <p:nvPr/>
        </p:nvSpPr>
        <p:spPr>
          <a:xfrm>
            <a:off x="6720840" y="4343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“계획을 세우는 부담”이 아니라</a:t>
            </a:r>
            <a:endParaRPr lang="en-US" sz="15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“오늘 하루만 해내면 되는 가벼움”을 만듭니다.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6720840" y="5440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매일, 내 속도로, 끝까지.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2026-08-20T18:11:14Z</dcterms:created>
  <dcterms:modified xsi:type="dcterms:W3CDTF">2026-08-20T18:11:14Z</dcterms:modified>
</cp:coreProperties>
</file>